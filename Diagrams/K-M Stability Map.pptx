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B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 showGuides="1">
      <p:cViewPr varScale="1">
        <p:scale>
          <a:sx n="89" d="100"/>
          <a:sy n="89" d="100"/>
        </p:scale>
        <p:origin x="108" y="13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638D4-B9B8-141D-38EC-4E17BE7614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75455A-E5E5-4244-0C1B-FCE2060F4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0A46B-2AE7-62B9-BF0D-B47090D21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FDCA2-3392-4A1A-9223-3DBB816C2ADB}" type="datetimeFigureOut">
              <a:rPr lang="en-GB" smtClean="0"/>
              <a:t>05/06/2026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EA1A5A-F62F-7DD5-3731-9CC37014D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784DE-9C79-A583-08C1-A39DF63D3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6F5DC-C547-413B-B7D7-0AD0D9539C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8159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66067-7D69-4943-4B06-FE58297E7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C3CCD-76A9-3164-F8F8-A157587FB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4FE5A-0DDC-3508-8359-8BA7E111D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FDCA2-3392-4A1A-9223-3DBB816C2ADB}" type="datetimeFigureOut">
              <a:rPr lang="en-GB" smtClean="0"/>
              <a:t>05/06/2026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D44A5-F5EE-07D1-6F51-55B2C916C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1C90F-8A24-ED56-BC37-FA243A4EA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6F5DC-C547-413B-B7D7-0AD0D9539C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0716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764F1-45F7-3632-56A7-D4BBEEA66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EB4FB0-322F-7143-ED37-2BE419BB88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D0729-F604-A470-CB63-6142C5A99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FDCA2-3392-4A1A-9223-3DBB816C2ADB}" type="datetimeFigureOut">
              <a:rPr lang="en-GB" smtClean="0"/>
              <a:t>05/06/2026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CD69A-5185-8FDD-B0DC-9386FEF3C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7E317-5FFC-0631-09A3-3BF47B01D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6F5DC-C547-413B-B7D7-0AD0D9539C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9265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B1377-A817-CC8D-945E-371CE3B5A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9FC86-29A2-82AE-6E95-9A73C2AB98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1434C-0CD9-7C84-6D3F-FA6A2C9023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490BB6-02D2-4460-D428-20A3D49DB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FDCA2-3392-4A1A-9223-3DBB816C2ADB}" type="datetimeFigureOut">
              <a:rPr lang="en-GB" smtClean="0"/>
              <a:t>05/06/2026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D408E7-EF9E-50C1-0CAF-65E568009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BC7EF1-DD6C-5408-B2E2-4089509BA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6F5DC-C547-413B-B7D7-0AD0D9539C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6064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B132F-F011-EBD8-7699-45B7DBBF1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B0C3B-9891-E0B7-8E1D-48266E63F1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A76110-39FB-FDDE-44E0-0756E307FA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3B61B5-B5A4-D5F5-3089-5BCC64331A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1DCF94-ED90-9F32-14BA-B24800ADFF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8CB1F3-8391-B2D6-9F80-82B503C1F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FDCA2-3392-4A1A-9223-3DBB816C2ADB}" type="datetimeFigureOut">
              <a:rPr lang="en-GB" smtClean="0"/>
              <a:t>05/06/2026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929CC7-D0D6-30B9-0A42-1C83190F6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B77D50-6F43-ADAA-5861-9D54F7AD8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6F5DC-C547-413B-B7D7-0AD0D9539C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9747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74FF5-6FB8-373E-984B-B81F81A92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1EDDEF-0840-20BF-D817-A7D5425E0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FDCA2-3392-4A1A-9223-3DBB816C2ADB}" type="datetimeFigureOut">
              <a:rPr lang="en-GB" smtClean="0"/>
              <a:t>05/06/2026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1AE104-DA87-F000-3223-658364B8D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C3A4E5-05AD-B3C5-09C2-94DC75722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6F5DC-C547-413B-B7D7-0AD0D9539C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5111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EA4866-753F-92C3-A148-38A8586B7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FDCA2-3392-4A1A-9223-3DBB816C2ADB}" type="datetimeFigureOut">
              <a:rPr lang="en-GB" smtClean="0"/>
              <a:t>05/06/2026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40310B-7F08-D9FF-EA54-3CE7957A6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60D8CF-211F-6C44-E02D-D986FF6BC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6F5DC-C547-413B-B7D7-0AD0D9539C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5712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70763-8C67-7212-A090-4389CA77A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A3A25-4002-A957-E007-C1B10D91C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47B720-5FA4-1AC7-7F5A-4057469910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FF9E82-D903-0C7F-92E7-7A59960A9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FDCA2-3392-4A1A-9223-3DBB816C2ADB}" type="datetimeFigureOut">
              <a:rPr lang="en-GB" smtClean="0"/>
              <a:t>05/06/2026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17E038-D971-46E6-63A7-DF01E97FF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466392-9A04-082D-677C-A1C7D0DB8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6F5DC-C547-413B-B7D7-0AD0D9539C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5183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3B747-DDF3-197E-A10B-2AA1B9CB1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49A529-0A6D-9F8F-4747-40859F6157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741379-DCC4-D340-AB87-A1BEEBD9A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A8236C-7185-E3C0-A502-7BF45F128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FDCA2-3392-4A1A-9223-3DBB816C2ADB}" type="datetimeFigureOut">
              <a:rPr lang="en-GB" smtClean="0"/>
              <a:t>05/06/2026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D6CE26-E8F7-2172-368C-32A1AE4B6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BE345-C185-D56A-6594-FBBA37401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6F5DC-C547-413B-B7D7-0AD0D9539C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3697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EE84C-F68B-291A-2244-1BB67BA52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5766A6-3F75-D2A4-1947-9D3A9C7F18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69DCAA-9220-2D9A-D4CC-EDD26DDCE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FDCA2-3392-4A1A-9223-3DBB816C2ADB}" type="datetimeFigureOut">
              <a:rPr lang="en-GB" smtClean="0"/>
              <a:t>05/06/2026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C3B1F-A133-DED4-6E67-7111C0AA9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6EB91-FA2C-27D0-4D5C-A4B400AE0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6F5DC-C547-413B-B7D7-0AD0D9539C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9604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9BA98D-2EAF-15BC-9142-FC61DC6532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EF60BC-0CD8-86D3-724D-55CDD8B491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1DB5F-E0F4-6FE9-E251-95D40778C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FDCA2-3392-4A1A-9223-3DBB816C2ADB}" type="datetimeFigureOut">
              <a:rPr lang="en-GB" smtClean="0"/>
              <a:t>05/06/2026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0BE6E-817D-1E2B-B604-026FC7566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288BB-F160-BE51-96E3-CB88AFEA0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6F5DC-C547-413B-B7D7-0AD0D9539C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955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30B3E0-1D31-0F1E-C280-737551E8E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A0C8C4-4535-D514-7FA1-4527671AAF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D0867-2E3B-52F9-EEE0-3894F3150C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7FDCA2-3392-4A1A-9223-3DBB816C2ADB}" type="datetimeFigureOut">
              <a:rPr lang="en-GB" smtClean="0"/>
              <a:t>05/06/2026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CEBDD-F59A-72F5-BC3D-6B9FC20343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F4110-7EF8-F68F-DFFF-6184C54735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C6F5DC-C547-413B-B7D7-0AD0D9539C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294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Diagonal Stripe 32">
            <a:extLst>
              <a:ext uri="{FF2B5EF4-FFF2-40B4-BE49-F238E27FC236}">
                <a16:creationId xmlns:a16="http://schemas.microsoft.com/office/drawing/2014/main" id="{A18A213B-BA8C-2044-E9B3-FE853A58FD9F}"/>
              </a:ext>
            </a:extLst>
          </p:cNvPr>
          <p:cNvSpPr/>
          <p:nvPr/>
        </p:nvSpPr>
        <p:spPr>
          <a:xfrm rot="10800000">
            <a:off x="3382387" y="448864"/>
            <a:ext cx="4944833" cy="4836309"/>
          </a:xfrm>
          <a:prstGeom prst="diagStripe">
            <a:avLst>
              <a:gd name="adj" fmla="val 0"/>
            </a:avLst>
          </a:prstGeom>
          <a:gradFill flip="none" rotWithShape="1">
            <a:gsLst>
              <a:gs pos="62000">
                <a:srgbClr val="FFFF00">
                  <a:lumMod val="83000"/>
                </a:srgbClr>
              </a:gs>
              <a:gs pos="56000">
                <a:srgbClr val="92D050"/>
              </a:gs>
              <a:gs pos="47000">
                <a:srgbClr val="00B050"/>
              </a:gs>
              <a:gs pos="100000">
                <a:srgbClr val="FF0000"/>
              </a:gs>
            </a:gsLst>
            <a:lin ang="13500000" scaled="0"/>
            <a:tileRect/>
          </a:gra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0E14723-106F-C12B-58A8-177E06C337A6}"/>
              </a:ext>
            </a:extLst>
          </p:cNvPr>
          <p:cNvCxnSpPr/>
          <p:nvPr/>
        </p:nvCxnSpPr>
        <p:spPr>
          <a:xfrm flipV="1">
            <a:off x="3382393" y="346229"/>
            <a:ext cx="0" cy="49448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15107FB-C670-32ED-BA06-97D087AFD176}"/>
              </a:ext>
            </a:extLst>
          </p:cNvPr>
          <p:cNvCxnSpPr>
            <a:cxnSpLocks/>
          </p:cNvCxnSpPr>
          <p:nvPr/>
        </p:nvCxnSpPr>
        <p:spPr>
          <a:xfrm rot="5400000" flipV="1">
            <a:off x="5854824" y="2815701"/>
            <a:ext cx="0" cy="49448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8D04BFF-2A0B-7B4F-ADE4-79B6D4CF3EA6}"/>
              </a:ext>
            </a:extLst>
          </p:cNvPr>
          <p:cNvSpPr txBox="1"/>
          <p:nvPr/>
        </p:nvSpPr>
        <p:spPr>
          <a:xfrm>
            <a:off x="4918229" y="5575177"/>
            <a:ext cx="2143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Kardashev Scale (K)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E14B98-7412-5FCD-B640-8FE087215E1C}"/>
              </a:ext>
            </a:extLst>
          </p:cNvPr>
          <p:cNvSpPr txBox="1"/>
          <p:nvPr/>
        </p:nvSpPr>
        <p:spPr>
          <a:xfrm rot="16200000">
            <a:off x="1207337" y="2633994"/>
            <a:ext cx="2574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Maslow Scale (M)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394865-A26B-E39E-C7C8-595309F266B6}"/>
              </a:ext>
            </a:extLst>
          </p:cNvPr>
          <p:cNvSpPr txBox="1"/>
          <p:nvPr/>
        </p:nvSpPr>
        <p:spPr>
          <a:xfrm>
            <a:off x="3074296" y="524698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FBA426-ED95-AF45-A535-BBC75215F9BE}"/>
              </a:ext>
            </a:extLst>
          </p:cNvPr>
          <p:cNvSpPr txBox="1"/>
          <p:nvPr/>
        </p:nvSpPr>
        <p:spPr>
          <a:xfrm>
            <a:off x="8078629" y="5246989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1.0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A20BDF-CE2A-0047-DBC9-6FA79AF40885}"/>
              </a:ext>
            </a:extLst>
          </p:cNvPr>
          <p:cNvSpPr txBox="1"/>
          <p:nvPr/>
        </p:nvSpPr>
        <p:spPr>
          <a:xfrm>
            <a:off x="2864677" y="2704276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6109CF-8611-A682-34FB-AC71962FF1CC}"/>
              </a:ext>
            </a:extLst>
          </p:cNvPr>
          <p:cNvSpPr txBox="1"/>
          <p:nvPr/>
        </p:nvSpPr>
        <p:spPr>
          <a:xfrm>
            <a:off x="2885141" y="161563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1.0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2FE88E-351A-E94B-5148-220FFF8509D7}"/>
              </a:ext>
            </a:extLst>
          </p:cNvPr>
          <p:cNvSpPr txBox="1"/>
          <p:nvPr/>
        </p:nvSpPr>
        <p:spPr>
          <a:xfrm>
            <a:off x="2810887" y="1432919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0.75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7B598F-E3B5-075E-D8B6-2B40E73F3179}"/>
              </a:ext>
            </a:extLst>
          </p:cNvPr>
          <p:cNvSpPr txBox="1"/>
          <p:nvPr/>
        </p:nvSpPr>
        <p:spPr>
          <a:xfrm>
            <a:off x="2763954" y="3975632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0.25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62C19D-EBB6-EB6F-1EC4-4272883D5447}"/>
              </a:ext>
            </a:extLst>
          </p:cNvPr>
          <p:cNvSpPr txBox="1"/>
          <p:nvPr/>
        </p:nvSpPr>
        <p:spPr>
          <a:xfrm>
            <a:off x="5481885" y="5246989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D35DF7-F02F-2935-BD6F-393F3B2286D8}"/>
              </a:ext>
            </a:extLst>
          </p:cNvPr>
          <p:cNvSpPr txBox="1"/>
          <p:nvPr/>
        </p:nvSpPr>
        <p:spPr>
          <a:xfrm>
            <a:off x="6685338" y="5247919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0.75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2660D3-4250-37B4-1C4E-EA5C3FB41ECE}"/>
              </a:ext>
            </a:extLst>
          </p:cNvPr>
          <p:cNvSpPr txBox="1"/>
          <p:nvPr/>
        </p:nvSpPr>
        <p:spPr>
          <a:xfrm>
            <a:off x="4197760" y="5246989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0.25</a:t>
            </a:r>
          </a:p>
        </p:txBody>
      </p:sp>
      <p:sp>
        <p:nvSpPr>
          <p:cNvPr id="39" name="Diagonal Stripe 38">
            <a:extLst>
              <a:ext uri="{FF2B5EF4-FFF2-40B4-BE49-F238E27FC236}">
                <a16:creationId xmlns:a16="http://schemas.microsoft.com/office/drawing/2014/main" id="{7F400D28-6C06-422D-7303-3022F656769F}"/>
              </a:ext>
            </a:extLst>
          </p:cNvPr>
          <p:cNvSpPr/>
          <p:nvPr/>
        </p:nvSpPr>
        <p:spPr>
          <a:xfrm>
            <a:off x="3388500" y="448865"/>
            <a:ext cx="4944833" cy="4836309"/>
          </a:xfrm>
          <a:prstGeom prst="diagStripe">
            <a:avLst>
              <a:gd name="adj" fmla="val 0"/>
            </a:avLst>
          </a:prstGeom>
          <a:gradFill flip="none" rotWithShape="1">
            <a:gsLst>
              <a:gs pos="62000">
                <a:srgbClr val="FFFF00">
                  <a:lumMod val="83000"/>
                </a:srgbClr>
              </a:gs>
              <a:gs pos="56000">
                <a:srgbClr val="92D050"/>
              </a:gs>
              <a:gs pos="47000">
                <a:srgbClr val="00B050"/>
              </a:gs>
              <a:gs pos="100000">
                <a:srgbClr val="FF0000"/>
              </a:gs>
            </a:gsLst>
            <a:lin ang="13500000" scaled="0"/>
            <a:tileRect/>
          </a:gra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3" name="Flowchart: Summing Junction 42">
            <a:extLst>
              <a:ext uri="{FF2B5EF4-FFF2-40B4-BE49-F238E27FC236}">
                <a16:creationId xmlns:a16="http://schemas.microsoft.com/office/drawing/2014/main" id="{C4D00001-BB54-299D-AC2D-00EBF7F90D0B}"/>
              </a:ext>
            </a:extLst>
          </p:cNvPr>
          <p:cNvSpPr/>
          <p:nvPr/>
        </p:nvSpPr>
        <p:spPr>
          <a:xfrm>
            <a:off x="6685338" y="2847700"/>
            <a:ext cx="239107" cy="225908"/>
          </a:xfrm>
          <a:prstGeom prst="flowChartSummingJunction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7C02DA4-D87F-9B32-88BD-3FC11265FD57}"/>
              </a:ext>
            </a:extLst>
          </p:cNvPr>
          <p:cNvCxnSpPr>
            <a:cxnSpLocks/>
            <a:stCxn id="46" idx="1"/>
            <a:endCxn id="43" idx="6"/>
          </p:cNvCxnSpPr>
          <p:nvPr/>
        </p:nvCxnSpPr>
        <p:spPr>
          <a:xfrm flipH="1">
            <a:off x="6924445" y="2448582"/>
            <a:ext cx="1941024" cy="5120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87763AC7-1350-8CFE-84D4-A2A949EA78A9}"/>
              </a:ext>
            </a:extLst>
          </p:cNvPr>
          <p:cNvSpPr txBox="1"/>
          <p:nvPr/>
        </p:nvSpPr>
        <p:spPr>
          <a:xfrm>
            <a:off x="8865469" y="1432919"/>
            <a:ext cx="2747831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Our civilisational current position. We are heading towards the danger zone and must increase M faster than K – but we must continue to increase K.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719A3C0-2608-717D-1066-25836FE04006}"/>
              </a:ext>
            </a:extLst>
          </p:cNvPr>
          <p:cNvSpPr txBox="1"/>
          <p:nvPr/>
        </p:nvSpPr>
        <p:spPr>
          <a:xfrm>
            <a:off x="9125722" y="4372604"/>
            <a:ext cx="3035934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K &gt; M Zone → “power outpacing maturity” (self‑inflicted risk).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D8FBE20-2746-CF78-63A9-DAF0CBFF5563}"/>
              </a:ext>
            </a:extLst>
          </p:cNvPr>
          <p:cNvCxnSpPr>
            <a:cxnSpLocks/>
            <a:stCxn id="50" idx="1"/>
          </p:cNvCxnSpPr>
          <p:nvPr/>
        </p:nvCxnSpPr>
        <p:spPr>
          <a:xfrm flipH="1" flipV="1">
            <a:off x="7196866" y="4372604"/>
            <a:ext cx="1928856" cy="4616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B6CD872C-7246-1547-DE06-42DFE60AF20E}"/>
              </a:ext>
            </a:extLst>
          </p:cNvPr>
          <p:cNvSpPr txBox="1"/>
          <p:nvPr/>
        </p:nvSpPr>
        <p:spPr>
          <a:xfrm>
            <a:off x="192404" y="448865"/>
            <a:ext cx="3035934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K &lt; M Zone → “maturity outpacing power” (unable to respond to risks).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B0FFB23-6E66-3C7E-932E-401AB7604E1F}"/>
              </a:ext>
            </a:extLst>
          </p:cNvPr>
          <p:cNvCxnSpPr>
            <a:cxnSpLocks/>
            <a:stCxn id="55" idx="3"/>
          </p:cNvCxnSpPr>
          <p:nvPr/>
        </p:nvCxnSpPr>
        <p:spPr>
          <a:xfrm>
            <a:off x="3228338" y="910530"/>
            <a:ext cx="7031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BF9F3910-9EC4-3AF2-7C02-1F40CF74E3D2}"/>
              </a:ext>
            </a:extLst>
          </p:cNvPr>
          <p:cNvSpPr txBox="1"/>
          <p:nvPr/>
        </p:nvSpPr>
        <p:spPr>
          <a:xfrm>
            <a:off x="8898719" y="317419"/>
            <a:ext cx="3035934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K ≈ M Zone → “power matching maturity” (stability zone).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89BE7387-6D3D-E05E-7C6A-543151E2DDE9}"/>
              </a:ext>
            </a:extLst>
          </p:cNvPr>
          <p:cNvCxnSpPr>
            <a:cxnSpLocks/>
            <a:stCxn id="60" idx="1"/>
          </p:cNvCxnSpPr>
          <p:nvPr/>
        </p:nvCxnSpPr>
        <p:spPr>
          <a:xfrm flipH="1">
            <a:off x="7306021" y="779084"/>
            <a:ext cx="1592698" cy="6538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4520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 Coe</dc:creator>
  <cp:lastModifiedBy>Steve Coe</cp:lastModifiedBy>
  <cp:revision>1</cp:revision>
  <dcterms:created xsi:type="dcterms:W3CDTF">2026-06-05T20:08:07Z</dcterms:created>
  <dcterms:modified xsi:type="dcterms:W3CDTF">2026-06-05T20:08:08Z</dcterms:modified>
</cp:coreProperties>
</file>